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69" r:id="rId6"/>
    <p:sldId id="270" r:id="rId7"/>
    <p:sldId id="271" r:id="rId8"/>
    <p:sldId id="257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68" r:id="rId20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506" y="-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xmlns="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r>
              <a:rPr lang="en-US" sz="2800" dirty="0" smtClean="0"/>
              <a:t>VGG19 Transfer Learning for</a:t>
            </a:r>
          </a:p>
          <a:p>
            <a:pPr algn="ctr">
              <a:spcBef>
                <a:spcPts val="400"/>
              </a:spcBef>
            </a:pPr>
            <a:r>
              <a:rPr lang="en-US" sz="2800" dirty="0" smtClean="0"/>
              <a:t>Leukemia Classification </a:t>
            </a:r>
            <a:r>
              <a:rPr lang="en-US" sz="2800" b="1" dirty="0" smtClean="0"/>
              <a:t>:</a:t>
            </a:r>
            <a:endParaRPr lang="en-US" sz="2800" b="1" dirty="0" smtClean="0"/>
          </a:p>
          <a:p>
            <a:pPr algn="ctr">
              <a:spcBef>
                <a:spcPts val="400"/>
              </a:spcBef>
            </a:pPr>
            <a:r>
              <a:rPr lang="en-US" sz="2000" b="1" dirty="0" smtClean="0"/>
              <a:t>A Comparative Study of Original vs. Segmented Blood Cell Images</a:t>
            </a:r>
          </a:p>
          <a:p>
            <a:pPr algn="ctr">
              <a:spcBef>
                <a:spcPts val="400"/>
              </a:spcBef>
            </a:pPr>
            <a:endParaRPr lang="en-US" sz="2000" dirty="0" smtClean="0"/>
          </a:p>
          <a:p>
            <a:pPr algn="ctr">
              <a:spcBef>
                <a:spcPts val="400"/>
              </a:spcBef>
            </a:pPr>
            <a:endParaRPr lang="en-US" sz="3200" dirty="0" smtClean="0"/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                 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 smtClean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Dr.Monika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US" sz="2000" b="0" strike="noStrike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Aggarwal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26873" y="3422081"/>
            <a:ext cx="1535677" cy="6976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</a:t>
            </a:r>
            <a:r>
              <a:rPr lang="en-US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Prachi</a:t>
            </a:r>
            <a:r>
              <a:rPr lang="en-US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US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Singla</a:t>
            </a:r>
            <a:endParaRPr lang="en-US" spc="-1" dirty="0" smtClean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2210990662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93178" y="3440414"/>
            <a:ext cx="4572000" cy="6976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US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Ojasva</a:t>
            </a:r>
            <a:r>
              <a:rPr lang="en-US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US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Raghav</a:t>
            </a:r>
            <a:endParaRPr lang="en-US" spc="-1" dirty="0" smtClean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2210990628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50105" y="3344092"/>
            <a:ext cx="4572000" cy="6976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 </a:t>
            </a:r>
            <a:r>
              <a:rPr lang="en-US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Punal</a:t>
            </a:r>
            <a:endParaRPr lang="en-US" spc="-1" dirty="0" smtClean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2210990690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Abstract &amp; Key Findings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343595" y="1264930"/>
            <a:ext cx="192024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3"/>
          <p:cNvSpPr/>
          <p:nvPr/>
        </p:nvSpPr>
        <p:spPr>
          <a:xfrm>
            <a:off x="343595" y="131065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97.39%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 4"/>
          <p:cNvSpPr/>
          <p:nvPr/>
        </p:nvSpPr>
        <p:spPr>
          <a:xfrm>
            <a:off x="343595" y="204217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Accuracy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2492435" y="1264930"/>
            <a:ext cx="1920240" cy="1188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Text 6"/>
          <p:cNvSpPr/>
          <p:nvPr/>
        </p:nvSpPr>
        <p:spPr>
          <a:xfrm>
            <a:off x="2492435" y="131065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98.69%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 7"/>
          <p:cNvSpPr/>
          <p:nvPr/>
        </p:nvSpPr>
        <p:spPr>
          <a:xfrm>
            <a:off x="2492435" y="204217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Sensitivity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4641275" y="1264930"/>
            <a:ext cx="1920240" cy="1188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9"/>
          <p:cNvSpPr/>
          <p:nvPr/>
        </p:nvSpPr>
        <p:spPr>
          <a:xfrm>
            <a:off x="4641275" y="131065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0.9940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4641275" y="204217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AUC-ROC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Shape 11"/>
          <p:cNvSpPr/>
          <p:nvPr/>
        </p:nvSpPr>
        <p:spPr>
          <a:xfrm>
            <a:off x="6790115" y="1264930"/>
            <a:ext cx="192024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12"/>
          <p:cNvSpPr/>
          <p:nvPr/>
        </p:nvSpPr>
        <p:spPr>
          <a:xfrm>
            <a:off x="6790115" y="131065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0.9846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6790115" y="204217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F1 Score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260465" y="3010615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Study Objective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274320" y="3496915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This study proposes a deep learning framework using VGG19 transfer learning for binary leukemia classification (Cancerous vs. Benign) from 3,256 microscopic blood cell images. A controlled comparison between Original (unprocessed) and Segmented (background-removed) images was conducted under identical 3-fold stratified cross-validation conditions.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274320" y="45928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Key Contributions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365760" y="5019267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Robust VGG19 leukemia classification with stratified 3-fold CV and complete OOF evaluation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Direct head-to-head comparison of Original vs. Segmented preprocessing under identical settings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Prioritization of sensitivity as the key clinical metric — 98.69% achieved (highest reported)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Critical analysis of gaps in existing literature on sensitivity reporting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75" y="180115"/>
            <a:ext cx="5486040" cy="914040"/>
          </a:xfrm>
        </p:spPr>
        <p:txBody>
          <a:bodyPr/>
          <a:lstStyle/>
          <a:p>
            <a:r>
              <a:rPr lang="en-US" sz="2800" b="1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Dataset Analysis — Original vs. Segmented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 smtClean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8600" y="115687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1565C0"/>
                </a:solidFill>
                <a:latin typeface="Times New Roman" pitchFamily="18" charset="0"/>
                <a:cs typeface="Times New Roman" pitchFamily="18" charset="0"/>
              </a:rPr>
              <a:t>3,256 microscopic blood cell images • 2,752 Cancerous • 504 Healthy • Class ratio 5.5:1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629315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Both variants contain identical class and subfolder distributions.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 The key difference is image preprocessing — Original retains natural background context and Segmented removes it.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Image 0" descr="/home/claude/img1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1" y="2313721"/>
            <a:ext cx="8365374" cy="41730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75" y="0"/>
            <a:ext cx="5486040" cy="914040"/>
          </a:xfrm>
        </p:spPr>
        <p:txBody>
          <a:bodyPr/>
          <a:lstStyle/>
          <a:p>
            <a:pPr marL="0" indent="0"/>
            <a:r>
              <a:rPr lang="en-US" sz="2800" b="1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Sample Blood Cell Images — Segmented Dataset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8600" y="1059885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1565C0"/>
                </a:solidFill>
                <a:latin typeface="Times New Roman" pitchFamily="18" charset="0"/>
                <a:cs typeface="Times New Roman" pitchFamily="18" charset="0"/>
              </a:rPr>
              <a:t>Top row: Cancerous cells  •  Bottom row: Healthy cells  •  Background-removed preprocessing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546185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i="1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Cancerous cells (top) appear as large, uniformly stained pink blobs with clear boundaries.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i="1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Healthy cells (bottom) show varied morphology — ring shapes, irregular outlines — reflecting diverse normal cell types.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Image 0" descr="/home/claude/img2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363614"/>
            <a:ext cx="8778240" cy="42311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5415" y="0"/>
            <a:ext cx="6310505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2800" b="1" dirty="0" smtClean="0">
                <a:solidFill>
                  <a:srgbClr val="FFFFFF"/>
                </a:solidFill>
              </a:rPr>
              <a:t>Methodology — Model Architecture &amp; Training</a:t>
            </a:r>
            <a:endParaRPr lang="en-US" sz="2800" dirty="0"/>
          </a:p>
        </p:txBody>
      </p:sp>
      <p:sp>
        <p:nvSpPr>
          <p:cNvPr id="110" name="TextShape 3"/>
          <p:cNvSpPr txBox="1"/>
          <p:nvPr/>
        </p:nvSpPr>
        <p:spPr>
          <a:xfrm>
            <a:off x="6553080" y="646736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endParaRPr lang="en-GB" sz="1200" b="0" strike="noStrike" spc="-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82880" y="1003074"/>
            <a:ext cx="4206240" cy="552242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82880" y="1003075"/>
            <a:ext cx="4206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2880" y="1003075"/>
            <a:ext cx="420624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Model Architecture — VGG19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274320" y="1525673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Backbone: VGG19 (ImageNet pretrained, frozen)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Frozen params: 20,026,432  |  Trainable: 429,057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Head: GlobalAvgPool → BatchNorm → Dense(512, ReLU) → Dropout(0.5)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→ BatchNorm → Dense(256, ReLU) → Dropout(0.3)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→ Dense(128, ReLU) → Dropout(0.2) → Sigmoid output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L2 regularisation (λ=1e-4) on all dense layers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182880" y="4146973"/>
            <a:ext cx="420624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21669" y="4174683"/>
            <a:ext cx="2119749" cy="203365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Training Configuration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74320" y="4831954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Optimizer: Adam (lr=1e-3)  •  Batch: 64  •  Max Epochs: 15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Early Stopping (patience=5)  •  ReduceLR on Plateau  •  GPU: 2×NVIDIA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754880" y="1003075"/>
            <a:ext cx="4206240" cy="549471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54880" y="1003075"/>
            <a:ext cx="42062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54880" y="1003075"/>
            <a:ext cx="420624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Validation &amp; Class Imbalance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846320" y="1567238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3-fold Stratified K-Fold cross-validation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Out-of-Fold (OOF) predictions cover all 3,256 samples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Youden's J statistic for optimal threshold selection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Class imbalance 5.5:1 → weighted cross-entropy loss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Weights: Cancerous=0.59, Benign=3.23 (sklearn)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754880" y="4117610"/>
            <a:ext cx="420624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54880" y="4145320"/>
            <a:ext cx="3142211" cy="2327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Data Augmentation (Training Only)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846320" y="485330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H/V flips  •  Rotation ±180°  •  Width/Height shift 10%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Zoom 15%  •  Brightness [0.85–1.15]  •  Channel shift 10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Fill mode: reflect  •  Input: 224×224 px, normalized [0,1]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695" y="0"/>
            <a:ext cx="5486040" cy="914040"/>
          </a:xfrm>
        </p:spPr>
        <p:txBody>
          <a:bodyPr/>
          <a:lstStyle/>
          <a:p>
            <a:pPr marL="0" indent="0"/>
            <a:r>
              <a:rPr lang="en-US" sz="2800" b="1" dirty="0" smtClean="0">
                <a:solidFill>
                  <a:srgbClr val="FFFFFF"/>
                </a:solidFill>
              </a:rPr>
              <a:t>Original Dataset — VGG19 Training Curves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28600" y="1143015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1565C0"/>
                </a:solidFill>
                <a:latin typeface="Times New Roman" pitchFamily="18" charset="0"/>
                <a:cs typeface="Times New Roman" pitchFamily="18" charset="0"/>
              </a:rPr>
              <a:t>Accuracy, Loss and AUC across 3 folds • Solid = Validation, Dashed = Train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74320" y="1657025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i="1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Smooth convergence across all three folds.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i="1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 Loss steadily decreases from 0.5 to 0.18. AUC consistently above 0.98 by epoch 5, reaching 0.99+ by training end — indicating excellent discriminative ability.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Image 0" descr="/home/claude/img7_orig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516019"/>
            <a:ext cx="8778240" cy="38432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695" y="-13855"/>
            <a:ext cx="5486040" cy="914040"/>
          </a:xfrm>
        </p:spPr>
        <p:txBody>
          <a:bodyPr/>
          <a:lstStyle/>
          <a:p>
            <a:r>
              <a:rPr lang="en-US" sz="2800" b="1" dirty="0" smtClean="0">
                <a:solidFill>
                  <a:srgbClr val="FFFFFF"/>
                </a:solidFill>
              </a:rPr>
              <a:t/>
            </a:r>
            <a:br>
              <a:rPr lang="en-US" sz="2800" b="1" dirty="0" smtClean="0">
                <a:solidFill>
                  <a:srgbClr val="FFFFFF"/>
                </a:solidFill>
              </a:rPr>
            </a:br>
            <a:r>
              <a:rPr lang="en-US" sz="2800" b="1" dirty="0" smtClean="0">
                <a:solidFill>
                  <a:srgbClr val="FFFFFF"/>
                </a:solidFill>
              </a:rPr>
              <a:t>Original Dataset — Performance Curves (Out-of-Fold)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1226145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i="1" dirty="0">
                <a:solidFill>
                  <a:srgbClr val="1565C0"/>
                </a:solidFill>
              </a:rPr>
              <a:t>ROC Curve: AUC = 0.9930  •  Precision-Recall: AP = 0.9986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546185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46185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AUC-ROC = 0.9930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1546185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546185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Avg Precision = 0.9986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1546185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rgbClr val="0D1B2A"/>
                </a:solidFill>
              </a:rPr>
              <a:t>Near-perfect precision maintained all the way to full recall — the model barely trades precision for sensitivity, demonstrating robust class separation.</a:t>
            </a:r>
            <a:endParaRPr lang="en-US" sz="1050" dirty="0"/>
          </a:p>
        </p:txBody>
      </p:sp>
      <p:pic>
        <p:nvPicPr>
          <p:cNvPr id="10" name="Image 0" descr="/home/claude/img8_orig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98217"/>
            <a:ext cx="8778240" cy="3936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9266" y="-41565"/>
            <a:ext cx="59574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Segmented Dataset — Performance Curves (Out-of-Fold)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28600" y="11291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1565C0"/>
                </a:solidFill>
                <a:latin typeface="Times New Roman" pitchFamily="18" charset="0"/>
                <a:cs typeface="Times New Roman" pitchFamily="18" charset="0"/>
              </a:rPr>
              <a:t>Raw counts and normalised rates across all 3,256 samples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74320" y="1518475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i="1" dirty="0">
                <a:solidFill>
                  <a:srgbClr val="C62828"/>
                </a:solidFill>
                <a:latin typeface="Times New Roman" pitchFamily="18" charset="0"/>
                <a:cs typeface="Times New Roman" pitchFamily="18" charset="0"/>
              </a:rPr>
              <a:t>The Segmented model misclassifies 98 cancerous cases as Healthy (false negatives) — clinically dangerous. While specificity is high at 96.23%, the 3.77% false negative rate for cancer is the critical concern.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Image 0" descr="/home/claude/img5_seg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70"/>
            <a:ext cx="8046720" cy="4064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30" y="152405"/>
            <a:ext cx="5486040" cy="914040"/>
          </a:xfrm>
        </p:spPr>
        <p:txBody>
          <a:bodyPr/>
          <a:lstStyle/>
          <a:p>
            <a:r>
              <a:rPr lang="en-US" sz="2800" b="1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Segmented Dataset — Per-Fold &amp; Mean Metrics Summary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8600" y="1170725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1565C0"/>
                </a:solidFill>
                <a:latin typeface="Times New Roman" pitchFamily="18" charset="0"/>
                <a:cs typeface="Times New Roman" pitchFamily="18" charset="0"/>
              </a:rPr>
              <a:t>Accuracy 96.4%  •  Recall 96.4%  •  F1 97.8%  •  AUC 99.4%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684735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i="1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Consistent performance across all three folds confirms stability.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i="1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However, the 96.4% recall (sensitivity) is 2.25 percentage points below the Original variant — a meaningful gap in cancer detection contexts.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Image 0" descr="/home/claude/img6_seg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474455"/>
            <a:ext cx="8778240" cy="39817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840" y="124695"/>
            <a:ext cx="5486040" cy="914040"/>
          </a:xfrm>
        </p:spPr>
        <p:txBody>
          <a:bodyPr/>
          <a:lstStyle/>
          <a:p>
            <a:r>
              <a:rPr lang="en-US" sz="2800" b="1" dirty="0" smtClean="0">
                <a:solidFill>
                  <a:srgbClr val="FFFFFF"/>
                </a:solidFill>
              </a:rPr>
              <a:t>Results — Proposed (Original) vs. Segmented: Head-to-Head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182880" y="1345295"/>
          <a:ext cx="8545485" cy="3545364"/>
        </p:xfrm>
        <a:graphic>
          <a:graphicData uri="http://schemas.openxmlformats.org/drawingml/2006/table">
            <a:tbl>
              <a:tblPr/>
              <a:tblGrid>
                <a:gridCol w="156207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458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56207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19453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48094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5908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Proposed (Original)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Segmented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Delta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Clinical Verdict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08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97.39% ± 0.16%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96.41% ± 1.17%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</a:rPr>
                        <a:t>+0.98%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Original wins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908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Sensitivity ★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98.69%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96.44%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</a:rPr>
                        <a:t>+2.25%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</a:rPr>
                        <a:t>CRITICAL — Original wins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908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Specificity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90.28%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96.23%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</a:rPr>
                        <a:t>−5.95%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Segmented wins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908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AUC-ROC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0.9940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0.9937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</a:rPr>
                        <a:t>+0.0003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Original wins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908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F1 Score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0.9846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0.9784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</a:rPr>
                        <a:t>+0.0062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Original wins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5321297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62828"/>
                </a:solidFill>
              </a:rPr>
              <a:t>★ Sensitivity is the primary clinically critical metric. High sensitivity = fewer missed cancer cases = better patient outcomes.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75" y="0"/>
            <a:ext cx="5486040" cy="914040"/>
          </a:xfrm>
        </p:spPr>
        <p:txBody>
          <a:bodyPr/>
          <a:lstStyle/>
          <a:p>
            <a:pPr marL="0" indent="0"/>
            <a:r>
              <a:rPr lang="en-US" sz="2800" b="1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Discussion — Why Original Images Outperform Segmented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3"/>
          <p:cNvSpPr/>
          <p:nvPr/>
        </p:nvSpPr>
        <p:spPr>
          <a:xfrm>
            <a:off x="182880" y="1303730"/>
            <a:ext cx="42976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274320" y="130373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Contextual Information Lost by Segmentation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5"/>
          <p:cNvSpPr/>
          <p:nvPr/>
        </p:nvSpPr>
        <p:spPr>
          <a:xfrm>
            <a:off x="166255" y="1733497"/>
            <a:ext cx="4308763" cy="39330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VGG19 was pre-trained on ImageNet natural photographs where objects exist within rich backgrounds. When segmentation removes the background, two critical signal sources are eliminated: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• Background staining patterns correlating with cell type in Romanowsky preparations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• Spatial context cues — nuclear-to-cytoplasm ratios relative to adjacent cells and overall smear density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663440" y="1303730"/>
            <a:ext cx="429768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8"/>
          <p:cNvSpPr/>
          <p:nvPr/>
        </p:nvSpPr>
        <p:spPr>
          <a:xfrm>
            <a:off x="4754880" y="130373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Asymmetry of Errors in Cancer Screening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9"/>
          <p:cNvSpPr/>
          <p:nvPr/>
        </p:nvSpPr>
        <p:spPr>
          <a:xfrm>
            <a:off x="4682835" y="1733497"/>
            <a:ext cx="4281055" cy="3919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False Positive: Healthy patient undergoes a repeat blood test — inconvenience measured in days.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False Negative: Leukemia patient is told they are healthy — treatment delayed, disease progresses, survival odds fall.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Times New Roman" pitchFamily="18" charset="0"/>
                <a:cs typeface="Times New Roman" pitchFamily="18" charset="0"/>
              </a:rPr>
              <a:t>This asymmetry makes sensitivity the non-negotiable primary metric. Accuracy is easily gamed by majority-class bias at 5.5:1 imbalance.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20" y="0"/>
            <a:ext cx="5486040" cy="914040"/>
          </a:xfrm>
        </p:spPr>
        <p:txBody>
          <a:bodyPr/>
          <a:lstStyle/>
          <a:p>
            <a:pPr marL="0" indent="0"/>
            <a:r>
              <a:rPr lang="en-US" sz="2800" b="1" dirty="0" smtClean="0">
                <a:solidFill>
                  <a:srgbClr val="FFFFFF"/>
                </a:solidFill>
              </a:rPr>
              <a:t>Comparative Analysis with Prior Work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90670684"/>
              </p:ext>
            </p:extLst>
          </p:nvPr>
        </p:nvGraphicFramePr>
        <p:xfrm>
          <a:off x="182880" y="1276002"/>
          <a:ext cx="8781013" cy="3462252"/>
        </p:xfrm>
        <a:graphic>
          <a:graphicData uri="http://schemas.openxmlformats.org/drawingml/2006/table">
            <a:tbl>
              <a:tblPr/>
              <a:tblGrid>
                <a:gridCol w="192084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464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7379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6464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82937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577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Study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Architecture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Validation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Sensitivity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77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Proposed ★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VGG19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3-Fold OOF CV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98.69%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97.39% ± 0.16%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77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Rahman et al. (2026)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CBAM-VGG19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K-Fold CV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Not reported 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98.73%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77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Jawahar et al. (2024)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DDRNet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Small held-out set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Not reported 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100%* (overfitting)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77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Talaat &amp; Gamel (2024)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VGG19/Xception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Train-test split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Not reported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~97%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77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Cheng et al. (2024)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ResNet-50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5-Fold CV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96.10%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95.8%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77338" y="5109556"/>
            <a:ext cx="8774430" cy="564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62828"/>
                </a:solidFill>
                <a:latin typeface="Times New Roman" pitchFamily="18" charset="0"/>
                <a:cs typeface="Times New Roman" pitchFamily="18" charset="0"/>
              </a:rPr>
              <a:t> Three of four compared studies do not report sensitivity — making clinical utility claims impossible.  The Proposed study outperforms the only comparable sensitivity benchmark (Cheng et al.) by +2.59 pp.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5" y="0"/>
            <a:ext cx="5486040" cy="914040"/>
          </a:xfrm>
        </p:spPr>
        <p:txBody>
          <a:bodyPr/>
          <a:lstStyle/>
          <a:p>
            <a:pPr marL="0" indent="0"/>
            <a:r>
              <a:rPr lang="en-US" sz="2800" b="1" dirty="0" smtClean="0">
                <a:solidFill>
                  <a:srgbClr val="FFFFFF"/>
                </a:solidFill>
              </a:rPr>
              <a:t>Limitations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187623"/>
            <a:ext cx="54864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7623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Single-Institution 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1943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D8B"/>
                </a:solidFill>
              </a:rPr>
              <a:t>Images from one source — staining protocols, imaging hardware, and scanner variations not accounted for; generalizability to other institutions unverified.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384946"/>
            <a:ext cx="54864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8494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Binary Classification Only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659266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D8B"/>
                </a:solidFill>
              </a:rPr>
              <a:t>Three ALL subtypes (Early, Pre, Pro) merged into one class. Subtype distinction is clinically significant and not addressed.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" y="3526849"/>
            <a:ext cx="54864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526849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No Explainability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801169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D8B"/>
                </a:solidFill>
              </a:rPr>
              <a:t>Grad-CAM or similar visualizations not conducted — background context hypothesis unverified visually.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" y="4710317"/>
            <a:ext cx="54864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710317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Residual Class Imbalance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4984637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D8B"/>
                </a:solidFill>
              </a:rPr>
              <a:t>5.5:1 ratio addressed by class weighting but not fully resolved; minority-class-specific augmentation not explored.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695" y="0"/>
            <a:ext cx="5486040" cy="914040"/>
          </a:xfrm>
        </p:spPr>
        <p:txBody>
          <a:bodyPr/>
          <a:lstStyle/>
          <a:p>
            <a:pPr marL="0" indent="0"/>
            <a:r>
              <a:rPr lang="en-US" sz="3200" b="1" dirty="0" smtClean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12" name="Shape 2"/>
          <p:cNvSpPr/>
          <p:nvPr/>
        </p:nvSpPr>
        <p:spPr>
          <a:xfrm>
            <a:off x="274320" y="1215055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3"/>
          <p:cNvSpPr/>
          <p:nvPr/>
        </p:nvSpPr>
        <p:spPr>
          <a:xfrm>
            <a:off x="274320" y="1260775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97.39%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4"/>
          <p:cNvSpPr/>
          <p:nvPr/>
        </p:nvSpPr>
        <p:spPr>
          <a:xfrm>
            <a:off x="274320" y="1946575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Accuracy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2423160" y="1215055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6"/>
          <p:cNvSpPr/>
          <p:nvPr/>
        </p:nvSpPr>
        <p:spPr>
          <a:xfrm>
            <a:off x="2423160" y="1260775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98.69%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7"/>
          <p:cNvSpPr/>
          <p:nvPr/>
        </p:nvSpPr>
        <p:spPr>
          <a:xfrm>
            <a:off x="2423160" y="1946575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Sensitivity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★ Highest Reported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4572000" y="1215055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9"/>
          <p:cNvSpPr/>
          <p:nvPr/>
        </p:nvSpPr>
        <p:spPr>
          <a:xfrm>
            <a:off x="4572000" y="1260775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0.9940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4572000" y="1946575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AUC-ROC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6720840" y="1215055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6720840" y="1260775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0.9846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6720840" y="1946575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F1 Score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228600" y="2974317"/>
            <a:ext cx="201168" cy="2011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548640" y="2946885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Original (unprocessed) images consistently outperform Segmented images — background context carries discriminative signal for ImageNet-pretrained VGG19.</a:t>
            </a:r>
          </a:p>
        </p:txBody>
      </p:sp>
      <p:sp>
        <p:nvSpPr>
          <p:cNvPr id="26" name="Shape 16"/>
          <p:cNvSpPr/>
          <p:nvPr/>
        </p:nvSpPr>
        <p:spPr>
          <a:xfrm>
            <a:off x="228600" y="3707505"/>
            <a:ext cx="201168" cy="2011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548640" y="3680073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Sensitivity of 98.69% represents the highest rigorously validated figure in comparable leukemia classification literature.</a:t>
            </a:r>
          </a:p>
        </p:txBody>
      </p:sp>
      <p:sp>
        <p:nvSpPr>
          <p:cNvPr id="28" name="Shape 18"/>
          <p:cNvSpPr/>
          <p:nvPr/>
        </p:nvSpPr>
        <p:spPr>
          <a:xfrm>
            <a:off x="228600" y="4412983"/>
            <a:ext cx="201168" cy="2011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548640" y="4385551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Three of four compared studies omit sensitivity reporting — a critical clinical gap this study directly addresses.</a:t>
            </a:r>
          </a:p>
        </p:txBody>
      </p:sp>
      <p:sp>
        <p:nvSpPr>
          <p:cNvPr id="30" name="Shape 20"/>
          <p:cNvSpPr/>
          <p:nvPr/>
        </p:nvSpPr>
        <p:spPr>
          <a:xfrm>
            <a:off x="228600" y="5118461"/>
            <a:ext cx="201168" cy="2011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548640" y="5091029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The pipeline demonstrates strong potential as an automated initial screening system for leukemia detection.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sz="3200" b="1" dirty="0" smtClean="0">
                <a:solidFill>
                  <a:srgbClr val="FFFFFF"/>
                </a:solidFill>
              </a:rPr>
              <a:t> References</a:t>
            </a:r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110836" y="1385455"/>
            <a:ext cx="803563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[1] IARC / WHO. (2020). Global Cancer Observatory: GLOBOCAN 2020. World Health Organization. </a:t>
            </a:r>
          </a:p>
          <a:p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[2]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Guo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, Y. et al. (2019). Deep learning for visual understanding: A review.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Neurocomputing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, 187, 27–48.</a:t>
            </a:r>
          </a:p>
          <a:p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[3]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Simonyan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, K. &amp;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Zisserman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, A. (2014). Very Deep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Convolutional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 Networks for Large-Scale Image Recognition. arXiv:1409.1556.</a:t>
            </a:r>
          </a:p>
          <a:p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[4]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Talaat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, F.M. &amp;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Gamel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, S.A. (2024). Machine learning in detection and classification of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leukemia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 using CNN.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Leukemia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. Multimedia Tools and Applications, 83, 22343–22362.</a:t>
            </a:r>
          </a:p>
          <a:p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[5]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Rahman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, A. et al. (2026). Improving ALL diagnosis through CBAM-enhanced VGG19. Scientific Reports. https://doi.org/10.1038/s41598-026-40184-4</a:t>
            </a:r>
          </a:p>
          <a:p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[6]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Jawahar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, M. et al. (2024). An attention-based deep learning for ALL classification. Scientific Reports, 14, 4509.</a:t>
            </a:r>
          </a:p>
          <a:p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[7]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Alzubaidi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, L. et al. (2025). A Review of Deep Learning Techniques for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Leukemia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 Cancer Classification Based on Blood Smear Images. Applied Sciences, 15, 1658.</a:t>
            </a:r>
          </a:p>
          <a:p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[8] Quantifying imbalanced classification methods for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leukemia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 detection.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ScienceDirect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, 2023.</a:t>
            </a:r>
          </a:p>
          <a:p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[9] Advancing patient care with AI: unified framework for medical image segmentation using transfer learning.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PubMed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 Central.</a:t>
            </a:r>
          </a:p>
          <a:p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[10] Cheng, B. et al. (2024). Deep learning assists in acute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leukemia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 detection and cell classification via flow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cytometry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. Scientific Reports, 14, 7521.</a:t>
            </a:r>
          </a:p>
          <a:p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[11] </a:t>
            </a:r>
            <a:r>
              <a:rPr lang="en-IN" sz="1400" dirty="0" err="1" smtClean="0">
                <a:latin typeface="Times New Roman" pitchFamily="18" charset="0"/>
                <a:cs typeface="Times New Roman" pitchFamily="18" charset="0"/>
              </a:rPr>
              <a:t>Jawahar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, M. et al. (2024). Attention-based deep learning for ALL classification. Scientific Reports.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16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34749</TotalTime>
  <Words>1523</Words>
  <Application>Microsoft Office PowerPoint</Application>
  <PresentationFormat>On-screen Show (4:3)</PresentationFormat>
  <Paragraphs>198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    Abstract &amp; Key Findings </vt:lpstr>
      <vt:lpstr>Dataset Analysis — Original vs. Segmented </vt:lpstr>
      <vt:lpstr>Sample Blood Cell Images — Segmented Dataset</vt:lpstr>
      <vt:lpstr>Slide 5</vt:lpstr>
      <vt:lpstr>Original Dataset — VGG19 Training Curves</vt:lpstr>
      <vt:lpstr> Original Dataset — Performance Curves (Out-of-Fold) </vt:lpstr>
      <vt:lpstr>Slide 8</vt:lpstr>
      <vt:lpstr>Segmented Dataset — Per-Fold &amp; Mean Metrics Summary </vt:lpstr>
      <vt:lpstr>Results — Proposed (Original) vs. Segmented: Head-to-Head </vt:lpstr>
      <vt:lpstr>Discussion — Why Original Images Outperform Segmented</vt:lpstr>
      <vt:lpstr>Comparative Analysis with Prior Work</vt:lpstr>
      <vt:lpstr>Limitations &amp; Future Work</vt:lpstr>
      <vt:lpstr>Conclusion</vt:lpstr>
      <vt:lpstr> References</vt:lpstr>
      <vt:lpstr>Slide 16</vt:lpstr>
    </vt:vector>
  </TitlesOfParts>
  <Company>CCC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win 10</cp:lastModifiedBy>
  <cp:revision>2318</cp:revision>
  <dcterms:created xsi:type="dcterms:W3CDTF">2010-04-09T07:36:15Z</dcterms:created>
  <dcterms:modified xsi:type="dcterms:W3CDTF">2026-05-14T17:01:39Z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